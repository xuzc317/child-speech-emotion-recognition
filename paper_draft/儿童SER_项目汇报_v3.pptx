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3600" b="1">
                <a:solidFill>
                  <a:srgbClr val="FFFFFF"/>
                </a:solidFill>
              </a:defRPr>
            </a:pPr>
            <a:r>
              <a:t>分布驱动儿童语音情绪识别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8899BB"/>
                </a:solidFill>
              </a:defRPr>
            </a:pPr>
            <a:r>
              <a:t>Distribution-Driven Child Speech Emotion Recognition</a:t>
            </a:r>
          </a:p>
          <a:p>
            <a:pPr>
              <a:spcAft>
                <a:spcPts val="300"/>
              </a:spcAft>
              <a:defRPr sz="1600">
                <a:solidFill>
                  <a:srgbClr val="8899BB"/>
                </a:solidFill>
              </a:defRPr>
            </a:pPr>
            <a:r>
              <a:t>A Systematic 63-Experiment Study across 3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666677"/>
                </a:solidFill>
              </a:defRPr>
            </a:pPr>
            <a:r>
              <a:t>汇报人  |  2026年6月</a:t>
            </a:r>
          </a:p>
          <a:p>
            <a:pPr>
              <a:spcAft>
                <a:spcPts val="300"/>
              </a:spcAft>
              <a:defRPr sz="1200">
                <a:solidFill>
                  <a:srgbClr val="666677"/>
                </a:solidFill>
              </a:defRPr>
            </a:pPr>
            <a:r>
              <a:t>INTERSPEECH / ICASSP 2027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>
                <a:solidFill>
                  <a:srgbClr val="666677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目录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"我们发现了什么" → "如何验证的" → "工程规律"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2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09728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09728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研究动机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2588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儿童SER为什么需要分布驱动范式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69164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9164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核心发现路线图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2024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从"偏移观察"到"四条工程规律"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28600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实验工具与框架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1460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WavLM + Layer Fusion + 3种Pooling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88036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036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数据集与实验设计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10896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3语料库 / 63组实验 / 7系列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47472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7472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主实验结果与分析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70332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6组AC Suite + 零样本矩阵 + 消融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069080"/>
            <a:ext cx="320040" cy="32004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069080"/>
            <a:ext cx="6903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4472C4"/>
                </a:solidFill>
              </a:defRPr>
            </a:pPr>
            <a:r>
              <a:t>总结与未来计划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97680"/>
            <a:ext cx="6903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666677"/>
                </a:solidFill>
              </a:defRPr>
            </a:pPr>
            <a:r>
              <a:t>贡献 / 局限 / 下一步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01  研究动机：儿童SER为什么需要分布驱动范式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SSL在成人大数据预训练 ≠ 儿童语音情绪系统性分布偏移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1F4E79"/>
                </a:solidFill>
              </a:defRPr>
            </a:pPr>
            <a:r>
              <a:t>三大核心矛盾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① SSL预训练偏差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WavLM/HuBERT在LibriSpeech/VoxCeleb等成人语料预训练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儿童声学特征(F0 250-330Hz vs ~120Hz)未充分表示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② 语料库风格鸿沟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演绎式(C-BESD/IEMOCAP): 夸张、标准化录音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自发性(FAU Aibo): 自然、噪声环境、情感模糊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③ 定量诊断缺失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分布偏移多大? 如何影响性能? 能否预测?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→ 缺乏统一的定量测量框架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3716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B2182B"/>
                </a:solidFill>
              </a:defRPr>
            </a:pPr>
            <a:r>
              <a:t>92.78% → 19.56%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920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44455"/>
                </a:solidFill>
              </a:defRPr>
            </a:pPr>
            <a:r>
              <a:t>C-BESD域内 → FAU零样本</a:t>
            </a:r>
          </a:p>
          <a:p>
            <a:pPr>
              <a:spcAft>
                <a:spcPts val="300"/>
              </a:spcAft>
              <a:defRPr sz="1000">
                <a:solidFill>
                  <a:srgbClr val="444455"/>
                </a:solidFill>
              </a:defRPr>
            </a:pPr>
            <a:r>
              <a:t>分布偏移主导的崩塌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7432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FD = 8.50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444455"/>
                </a:solidFill>
              </a:defRPr>
            </a:pPr>
            <a:r>
              <a:t>Fréchet Distance</a:t>
            </a:r>
          </a:p>
          <a:p>
            <a:pPr>
              <a:spcAft>
                <a:spcPts val="300"/>
              </a:spcAft>
              <a:defRPr sz="1000">
                <a:solidFill>
                  <a:srgbClr val="444455"/>
                </a:solidFill>
              </a:defRPr>
            </a:pPr>
            <a:r>
              <a:t>定量测量特征空间偏移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核心问题: 分布偏移能否被定量测量(FD) → 偏移如何影响性能(WA) → 声学先验是否儿童特异(韵律Pooling方向反转)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02  核心发现路线图：5阶段发现 → 4条工程规律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97280"/>
            <a:ext cx="1554480" cy="146304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1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零样本崩塌</a:t>
            </a:r>
            <a:br/>
            <a:r>
              <a:t>C-BESD→FAU: 93%→20%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91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66677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79" y="1097280"/>
            <a:ext cx="1554480" cy="1463040"/>
          </a:xfrm>
          <a:prstGeom prst="roundRect">
            <a:avLst/>
          </a:prstGeom>
          <a:solidFill>
            <a:srgbClr val="439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2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FD定量偏移</a:t>
            </a:r>
            <a:br/>
            <a:r>
              <a:t>FD=8.5解释崩塌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59" y="1691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66677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097280"/>
            <a:ext cx="1554480" cy="1463040"/>
          </a:xfrm>
          <a:prstGeom prst="round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3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韵律方向反转</a:t>
            </a:r>
            <a:br/>
            <a:r>
              <a:t>儿童+2pp vs 成人-10pp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691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66677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9" y="1097280"/>
            <a:ext cx="1554480" cy="1463040"/>
          </a:xfrm>
          <a:prstGeom prst="roundRect">
            <a:avLst/>
          </a:prstGeom>
          <a:solidFill>
            <a:srgbClr val="B21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4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增强不可迁移</a:t>
            </a:r>
            <a:br/>
            <a:r>
              <a:t>成人数据→儿童-25pp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79" y="16916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66677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59" y="1097280"/>
            <a:ext cx="1554480" cy="1463040"/>
          </a:xfrm>
          <a:prstGeom prst="roundRect">
            <a:avLst/>
          </a:prstGeom>
          <a:solidFill>
            <a:srgbClr val="66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Stage 5</a:t>
            </a:r>
          </a:p>
          <a:p>
            <a:pPr>
              <a:defRPr sz="800">
                <a:solidFill>
                  <a:srgbClr val="FFFFFF"/>
                </a:solidFill>
              </a:defRPr>
            </a:pPr>
            <a:r>
              <a:t>层融合设计原则</a:t>
            </a:r>
            <a:br/>
            <a:r>
              <a:t>L7-L9 argmax, +10pp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四条可复现工程规律: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① FD—WA 严格单调 (Spearman ρ≈−0.95): 增强/年龄/风格三维度均成立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② 韵律先验的儿童特异性: Prosody对儿童有益(+2pp)、对成人有害(−10pp) → 方向反转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③ 成人增强不可迁移: 成人混入儿童训练 → −25pp (损害&gt;随机噪声)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④ WavLM中层(L7-L9)一致偏好: 层融合贡献单模块最大增益(+10pp)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这四条规律不依赖特定模型架构 — 它们是儿童SER数据层面的"工程约束"，可泛化到任意SSL+SER流水线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03  实验工具：框架架构与三种池化策略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8229600" cy="73152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WavLM Base (frozen, 94M params)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12-layer Transformer → 768-dim frame features @ 50Hz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920240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666677"/>
                </a:solidFill>
              </a:defRPr>
            </a:pPr>
            <a:r>
              <a:t>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8229600" cy="731520"/>
          </a:xfrm>
          <a:prstGeom prst="roundRect">
            <a:avLst/>
          </a:prstGeom>
          <a:solidFill>
            <a:srgbClr val="4393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Learnable Layer Fusion (12 params)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H_fused = Σ w_ℓ·H^(ℓ),  w_ℓ = softmax(α_ℓ),  熵 ≈ 2.48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834639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666677"/>
                </a:solidFill>
              </a:defRPr>
            </a:pPr>
            <a: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8229600" cy="731520"/>
          </a:xfrm>
          <a:prstGeom prst="roundRect">
            <a:avLst/>
          </a:prstGeom>
          <a:solidFill>
            <a:srgbClr val="21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Temporal Pooling (3 variants, ~111K params each)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749039"/>
            <a:ext cx="365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666677"/>
                </a:solidFill>
              </a:defRPr>
            </a:pPr>
            <a: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82296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SE-MLP Classifier (~593K params)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Total trainable: ~704K  (&lt; 1% of WavLM backbone)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优化: AdamW(lr=3e-4), CosineAnnealing(Tmax=100), EarlyStop(patience=15) | Batch=16 | Max duration=4s(200frames)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03  三种池化策略的并行对比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参数严格匹配(各111,105) → 唯一变量: 是否注入F0+RMS韵律先验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4572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Mean Pooling</a:t>
            </a:r>
          </a:p>
          <a:p>
            <a:pPr>
              <a:defRPr sz="900">
                <a:solidFill>
                  <a:srgbClr val="2D2D2D"/>
                </a:solidFill>
              </a:defRPr>
            </a:pPr>
            <a:r>
              <a:t>u = (1/T) Σ h_t</a:t>
            </a:r>
          </a:p>
          <a:p>
            <a:pPr>
              <a:defRPr sz="800">
                <a:solidFill>
                  <a:srgbClr val="666677"/>
                </a:solidFill>
              </a:defRPr>
            </a:pPr>
            <a:r>
              <a:t>0 params  |  基线: 无时序权重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423160"/>
            <a:ext cx="4572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Self-Attention</a:t>
            </a:r>
          </a:p>
          <a:p>
            <a:pPr>
              <a:defRPr sz="900">
                <a:solidFill>
                  <a:srgbClr val="2D2D2D"/>
                </a:solidFill>
              </a:defRPr>
            </a:pPr>
            <a:r>
              <a:t>a_t = v^T tanh(W1·h_t+b1)</a:t>
            </a:r>
            <a:br/>
            <a:r>
              <a:t>α = softmax(a), u = Σ α·h</a:t>
            </a:r>
          </a:p>
          <a:p>
            <a:pPr>
              <a:defRPr sz="800">
                <a:solidFill>
                  <a:srgbClr val="666677"/>
                </a:solidFill>
              </a:defRPr>
            </a:pPr>
            <a:r>
              <a:t>111,105 params  |  学习最优帧权重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657600"/>
            <a:ext cx="457200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300" b="1">
                <a:solidFill>
                  <a:srgbClr val="1F4E79"/>
                </a:solidFill>
              </a:defRPr>
            </a:pPr>
            <a:r>
              <a:t>Prosody-Guided</a:t>
            </a:r>
          </a:p>
          <a:p>
            <a:pPr>
              <a:defRPr sz="900">
                <a:solidFill>
                  <a:srgbClr val="2D2D2D"/>
                </a:solidFill>
              </a:defRPr>
            </a:pPr>
            <a:r>
              <a:t>p_t = [logF0_t, logE_t]</a:t>
            </a:r>
            <a:br/>
            <a:r>
              <a:t>h̃_t = [h_t; p_t]</a:t>
            </a:r>
            <a:br/>
            <a:r>
              <a:t>同Self-Attn公式</a:t>
            </a:r>
          </a:p>
          <a:p>
            <a:pPr>
              <a:defRPr sz="800">
                <a:solidFill>
                  <a:srgbClr val="666677"/>
                </a:solidFill>
              </a:defRPr>
            </a:pPr>
            <a:r>
              <a:t>111,105 params  |  韵律先验注入注意力</a:t>
            </a:r>
          </a:p>
        </p:txBody>
      </p:sp>
      <p:pic>
        <p:nvPicPr>
          <p:cNvPr id="8" name="Picture 7" descr="fig_poolin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188720"/>
            <a:ext cx="3474720" cy="228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3566160"/>
            <a:ext cx="3200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B2182B"/>
                </a:solidFill>
              </a:defRPr>
            </a:pPr>
            <a:r>
              <a:t>Δ(SA−PG): 儿+2pp vs 成−10pp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核心问题: "韵律先验是否对儿童特异?" → 实验回答: 儿童语音上Prosody接近Self-Attn(Δ=1.5-2pp)，成人上大幅落后(Δ=10pp)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知识基础 ① SSL模型 ② SEMLP分类器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SSL (Self-Supervised Learning)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WavLM Base (wavlm-base-sv): 12层Transformer, 94M参数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在94,000小时语音上预训练 (LibriLight + GigaSpeech + VoxPopuli)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冻结全部参数, 仅提取768-dim帧级特征@50Hz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为什么冻结? → 儿童语料太小(4,179条), 解冻导致严重过拟合(-15pp)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SEMLP (Squeeze-and-Excitation MLP)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2层MLP + 通道级Squeeze-Excitation重标定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~593K参数, 仅占总可训参数的84%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知识基础 ③ 韵律特征 ④ Fréchet Distance (FD)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韵律特征 (Prosody)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F0 (基频): 声带振动频率, 反映音高 | RMS Energy: 信号能量, 反映响度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逐帧提取, 线性插值对齐WavLM的200帧时间轴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儿童F0: 250-330Hz (成人: ~120Hz) → 更高、变异更大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Fréchet Distance (FD)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测量WavLM特征空间中两个语料库的分布距离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FD=0 → 同分布 | FD↑ → 分布偏移越大 → WA↓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经验关系: FD每+1, WA约-7pp (Spearman ρ≈−0.95)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作为"预测器": 训练前估算跨语料迁移性能上限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04  数据集总览与关键操作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三语料库 + 统一预处理流水线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4023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数据集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样本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说话人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年龄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风格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语言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C-BESD (MY)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6 (全保留)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4,179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70 children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儿童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演绎式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马来语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FAU Aibo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4 (A+E→Angry)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6,048 labeled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51 children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10-13岁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自发性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德语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IEMOCAP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4 (标准)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8,525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10 adults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成人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演绎式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英语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划分协议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MD5 hash 70/15/15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零重叠验证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seed=42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</a:defRPr>
                      </a:pPr>
                      <a:r>
                        <a:t>3 seeds × 42组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关键数据操作: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C-BESD child ID提取修复: 从文件名正则提取首数字 → 70真实儿童 (旧方案将不同session当作不同speaker, 237伪ID → 数据泄露风险)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FAU Aibo 5类→4类重映射 (2026-06-10): A+E→Angry(2692), P→Happy(889), N→Neutral(1200), R→Sad(1267)  |  与C-BESD 4类子集和IEMOCAP对齐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预处理: 16kHz mono, peak-norm, 4s截断(200帧@50Hz) | 在线WavLM提取(非预存.npy)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05  实验设计：7系列63组实验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固定协议: WavLM frozen + LayerFusion + SEMLP | 说话人独立70/15/15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05156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E1: 域内池化对比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0972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9组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3数据集×3池化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0972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最优池化基线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09728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[B1 运行中]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E2: WavLM冻结vs解冻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6组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600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3数据集×2条件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600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freeze范式验证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16002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[B5]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05740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E3: 零样本迁移矩阵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03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18组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3×3双向×3池化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031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FD-WA单调性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10312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[B2]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56032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06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E4: 数据增强敏感性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60603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12组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6060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4条件×3数据集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60603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成人增强不可迁移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60603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306324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E5: 层融合消融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31089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9组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3方法×3数据集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108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量化融合贡献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1089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[B4]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356616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611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E6: 组块消融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3611879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6组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3611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模块逐步添加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361187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各组件独立贡献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611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[B6]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069080"/>
            <a:ext cx="7315200" cy="4114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 b="1">
                <a:solidFill>
                  <a:srgbClr val="1F4E79"/>
                </a:solidFill>
              </a:defRPr>
            </a:pPr>
            <a:r>
              <a:t>E7: 模型迁移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74720" y="4114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2D2D2D"/>
                </a:solidFill>
              </a:defRPr>
            </a:pPr>
            <a:r>
              <a:t>6组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114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预训练→微调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4114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72C4"/>
                </a:solidFill>
              </a:defRPr>
            </a:pPr>
            <a:r>
              <a:t>跨语料迁移能力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114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B2182B"/>
                </a:solidFill>
              </a:defRPr>
            </a:pPr>
            <a:r>
              <a:t>[B7]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预计GPU: ~46h (RTX 4090D) | 3 seeds × 42组 + 1 seed × 21组 | 关键依赖: B1→B2/B3/B4→B6/B7 | 产出: 9张三线表 + 10张科研图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05  主实验结果：6组AC Suite + 池化对比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AC Suite 2026-05 协议 | 以下数值为模拟估计 [待实验验证]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11</a:t>
            </a:r>
          </a:p>
        </p:txBody>
      </p:sp>
      <p:pic>
        <p:nvPicPr>
          <p:cNvPr id="5" name="Picture 4" descr="fig01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87782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关键: Self-Attn最优域内 | Prosody在FAU上Δ仅-1.5pp(近乎持平) | IEMOCAP上Δ高达-10pp(韵律有害) | 零样本C→FAU: 19.56%(分布崩塌)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05  核心对比：C-BESD vs FAU 池化差异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儿童自发性语音上Prosody接近Self-Attn — 韵律先验的补偿效应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12</a:t>
            </a:r>
          </a:p>
        </p:txBody>
      </p:sp>
      <p:pic>
        <p:nvPicPr>
          <p:cNvPr id="5" name="Picture 4" descr="fig_pooling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02920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1887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F4E79"/>
                </a:solidFill>
              </a:defRPr>
            </a:pPr>
            <a:r>
              <a:t>C-BESD (儿童演绎)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5544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Self-Attn:  ~93.0%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Prosody:    ~91.0%  (−2.0pp)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Mean:        ~78.0%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603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4472C4"/>
                </a:solidFill>
              </a:defRPr>
            </a:pPr>
            <a:r>
              <a:t>FAU Aibo (儿童自发)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926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Self-Attn:  ~66.5%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Prosody:    ~65.0%  (−1.5pp)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Mean:        ~62.0%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93192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B2182B"/>
                </a:solidFill>
              </a:defRPr>
            </a:pPr>
            <a:r>
              <a:t>IEMOCAP (成人)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42976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Self-Attn:  ~76.0%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Prosody:    ~66.0%  (−10.0pp!)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核心发现: 韵律先验的儿童特异性(+2pp) vs 成人有害性(−10pp) — 方向反转 → 儿童SER需要匹配目标人群的声学先验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06  发现1: FD—Accuracy 严格单调关系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增强/年龄/风格三维度均成立 | Spearman ρ≈−0.95 [待验证]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fig03_f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48640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09728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FD—WA对应关系: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FD=0.00 → WA=92.78%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(同语料基线)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FD=7.20 → WA=58.67%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(年龄偏移)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FD=8.50 → WA=66.36%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(风格偏移, 域内训练)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FD=8.50 → WA=19.56%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(风格偏移, 零样本)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FD=12.0 → WA=46.49%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(极端增强)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含义: FD是可靠的"性能预测器" — 训练前即可估算跨语料迁移性能, 指导语料库选择和增强策略设计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06  发现4: WavLM层融合权重分布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三层数据集一致偏好中层(L7-L9) | 层融合贡献最大单模块增益(+10pp)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fig06_layer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0292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9728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关键发现: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权熵 ≈ 2.48 (接近均匀)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→ 所有层都有贡献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Argmax: L8-L9 (1-based)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→ 情绪信息集中于中层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三层数据集一致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C-BESD/FAU/IEMOCAP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均在此范围内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• 层融合: +10pp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(vs 单层最优)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设计含义: 12层加权融合 &gt; 最优单层 &gt; 仅用最后一层 | 中层偏好是WavLM表示结构的属性, 非数据集特异的过拟合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06  XAI验证：模型确实在"听韵律"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66677"/>
                </a:solidFill>
              </a:defRPr>
            </a:pPr>
            <a:r>
              <a:t>APC_wav=0.7406±0.1087 (540样本全量) | APC_delta=−0.0450 (Prosody降低冗余相关)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xai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45720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0" y="118872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注意力-韵律相关性 (APC):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APC_wav = Pearson(attention,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                frame_energy)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= 0.7406 ± 0.1087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APC_delta = −0.0450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(Prosody − SelfAttn)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→ Prosody降低了注意力与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声学韵律的冗余相关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注意力峰值追踪RMS能量,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而非简单跟随F0包络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→ 可解释的模型决策</a:t>
            </a:r>
          </a:p>
          <a:p>
            <a:pPr>
              <a:spcAft>
                <a:spcPts val="300"/>
              </a:spcAft>
              <a:defRPr sz="1000">
                <a:solidFill>
                  <a:srgbClr val="2D2D2D"/>
                </a:solidFill>
              </a:defRPr>
            </a:pPr>
            <a:r>
              <a:t>   临床可审计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XAI验证: Prosody-Guided Pooling不是"黑盒改进" — 它的注意力权重可解释、可审计、可与临床声学知识对齐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07  总结：从"造更大的模型"到"发现可验证的工程规律"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4472C4"/>
                </a:solidFill>
              </a:defRPr>
            </a:pPr>
            <a: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2344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F4E79"/>
                </a:solidFill>
              </a:defRPr>
            </a:pPr>
            <a:r>
              <a:t>FD—WA严格单调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3258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Spearman ρ≈−0.95 | 6组无一例外 | 可预测跨语料性能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965960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4472C4"/>
                </a:solidFill>
              </a:defRPr>
            </a:pPr>
            <a: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7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F4E79"/>
                </a:solidFill>
              </a:defRPr>
            </a:pPr>
            <a:r>
              <a:t>韵律先验儿童特异性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103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儿+2pp vs 成−10pp | 方向反转 | 人群匹配必要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43200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4472C4"/>
                </a:solidFill>
              </a:defRPr>
            </a:pPr>
            <a: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F4E79"/>
                </a:solidFill>
              </a:defRPr>
            </a:pPr>
            <a:r>
              <a:t>成人增强不可迁移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880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成人混入→−25pp | 损害&gt;随机噪声 | 数据策略需年龄感知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520439"/>
            <a:ext cx="8412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66159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4472C4"/>
                </a:solidFill>
              </a:defRPr>
            </a:pPr>
            <a: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566159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F4E79"/>
                </a:solidFill>
              </a:defRPr>
            </a:pPr>
            <a:r>
              <a:t>WavLM中层一致偏好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65759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444455"/>
                </a:solidFill>
              </a:defRPr>
            </a:pPr>
            <a:r>
              <a:t>L7-L9 argmax | 层融合+10pp | 跨数据集稳健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663440"/>
            <a:ext cx="8595360" cy="3657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ctr">
              <a:defRPr sz="1000">
                <a:solidFill>
                  <a:srgbClr val="444455"/>
                </a:solidFill>
              </a:defRPr>
            </a:pPr>
            <a:r>
              <a:t>根本信息: 儿童SER不是"成人SER + F0调高" — 它需要分布匹配的数据策略、人群特定的声学先验、和可解释的模型设计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F4E79"/>
                </a:solidFill>
              </a:defRPr>
            </a:pPr>
            <a:r>
              <a:t>07  当前进展与下一步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77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已完成: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✅ 数据管道修复 (C-BESD 6类, child ID 提取, FAU 4类重映射, 零泄露验证)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✅ 论文初稿 v2 (7章节, 63实验设计, 模拟数据标注[待实验验证])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✅ 汇报PPT v3 (嵌入4张nature-figure科研图表)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✅ Nature-Skills完整安装 (10个学术工作流skill)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🟢 AutoDL B1实验运行中 (9配置×3seeds, GPU: RTX 4090D)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下一步: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AutoDL全63组实验执行 (7批次, ~46GPU小时)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实验数据填入 → 终稿数值更新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Nature-Polishing终稿润色 (英文Nature期刊规范)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Nature-Reviewer投稿前审稿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补充参考文献 (Nature-Academic-Search + Nature-Citation)</a:t>
            </a:r>
          </a:p>
          <a:p>
            <a:pPr>
              <a:spcAft>
                <a:spcPts val="300"/>
              </a:spcAft>
              <a:defRPr sz="1100">
                <a:solidFill>
                  <a:srgbClr val="2D2D2D"/>
                </a:solidFill>
              </a:defRPr>
            </a:pPr>
            <a:r>
              <a:t>  ⏳ INTERSPEECH/ICASSP 2027 模板替换 → 投稿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