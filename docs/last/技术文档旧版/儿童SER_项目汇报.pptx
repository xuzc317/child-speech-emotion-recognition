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6" r:id="rId19"/>
    <p:sldId id="271" r:id="rId20"/>
    <p:sldId id="272" r:id="rId21"/>
    <p:sldId id="273" r:id="rId22"/>
    <p:sldId id="274" r:id="rId23"/>
    <p:sldId id="275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Chao Xu" initials="authorId_137441806601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5T01:43:42.408" idx="1">
    <p:pos x="3596" y="1582"/>
    <p:text>可能缺了一个零样本实验
</p:text>
  </p:cm>
  <p:cm authorId="1" dt="2026-06-05T01:47:54.114" idx="2">
    <p:pos x="4570" y="814"/>
    <p:text>跨数据集比较时，FD 不是唯一的自变量</p:text>
  </p:cm>
  <p:cm authorId="1" dt="2026-06-05T01:49:10.017" idx="3">
    <p:pos x="10" y="10"/>
    <p:text>FD 只度量了"这个数据集和 C-BESD 有多不同"
域内训练后的 Acc 还取决于：数据量、说话人的多样性、年龄一致性、WavLM（是在成人语音上预训练，所以更偏向成人）</p:text>
    <p:extLst>
      <p:ext uri="{C676402C-5697-4E1C-873F-D02D1690AC5C}">
        <p15:threadingInfo xmlns:p15="http://schemas.microsoft.com/office/powerpoint/2012/main" timeZoneBias="-480">
          <p15:parentCm authorId="1" idx="2"/>
        </p15:threadingInfo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分布驱动的儿童语音情绪识别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Distribution-Driven Child Speech Emotion Recognition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从儿童语音的统计分布出发，重新发现 SER 的工程规律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许梓超  |  2026年6月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AC Suite 2026-05  ·  WavLM Base (wavlm-base-sv)  ·  C-BESD / FAU Aibo / IEMOCAP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Agenda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研究背景与动机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儿童SER的核心挑战——分布偏移的发现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框架架构总览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1031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Pipeline: Waveform → WavLM → LayerFusion → Pooling → SEMLP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4231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核心方法演进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6974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从DrseNet到SEMLP · 从Mean Pooling到Prosody-Guided Pooling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9" name="Text 17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017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实验设计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2918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6组实验 × 3数据集 × 2种池化策略对比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3" name="Text 21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611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消融与分析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38862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Pooling对比、FD诊断、儿童特异性、XAI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25196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7" name="Text 25"/>
          <p:cNvSpPr/>
          <p:nvPr/>
        </p:nvSpPr>
        <p:spPr>
          <a:xfrm>
            <a:off x="731520" y="4251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206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总结与展望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44805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从"通用模型"到"儿童SER规律"的认知转变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研究动机：儿童语音≠成人语音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主流SSL模型在成人语料预训练 → 儿童语音存在系统性分布偏移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188720"/>
            <a:ext cx="47548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核心发现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所有主流SSL模型（WavLM, HuBERT, wav2vec 2.0）均在成人语料上预训练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儿童F0更高（250–400 Hz vs. 80–200 Hz）、共振峰更分散、韵律变异性更大 [Dmitrieva et al., 2008]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成人SER标配的数据增强直接应用于儿童语音 → 引入分布偏移、损害性能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现有工作直接复用成人SER管线，缺乏针对儿童语音特性的系统性理解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292608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1371600"/>
            <a:ext cx="54864" cy="777240"/>
          </a:xfrm>
          <a:prstGeom prst="rect">
            <a:avLst/>
          </a:prstGeom>
          <a:solidFill>
            <a:srgbClr val="2E8B57"/>
          </a:solidFill>
        </p:spPr>
      </p:sp>
      <p:sp>
        <p:nvSpPr>
          <p:cNvPr id="9" name="Text 7"/>
          <p:cNvSpPr/>
          <p:nvPr/>
        </p:nvSpPr>
        <p:spPr>
          <a:xfrm>
            <a:off x="5852160" y="1508760"/>
            <a:ext cx="265176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B57"/>
                </a:solidFill>
              </a:rPr>
              <a:t>92.78%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852160" y="1775765"/>
            <a:ext cx="2651760" cy="3497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C-BESD (儿童演绎)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本文方法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0" y="2331720"/>
            <a:ext cx="292608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2331720"/>
            <a:ext cx="54864" cy="777240"/>
          </a:xfrm>
          <a:prstGeom prst="rect">
            <a:avLst/>
          </a:prstGeom>
          <a:solidFill>
            <a:srgbClr val="4A90C4"/>
          </a:solidFill>
        </p:spPr>
      </p:sp>
      <p:sp>
        <p:nvSpPr>
          <p:cNvPr id="13" name="Text 11"/>
          <p:cNvSpPr/>
          <p:nvPr/>
        </p:nvSpPr>
        <p:spPr>
          <a:xfrm>
            <a:off x="5852160" y="2468880"/>
            <a:ext cx="265176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90C4"/>
                </a:solidFill>
              </a:rPr>
              <a:t>58.67%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52160" y="2735885"/>
            <a:ext cx="2651760" cy="3497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IEMOCAP (成人)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相同Pipeline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3291840"/>
            <a:ext cx="292608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3291840"/>
            <a:ext cx="54864" cy="777240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17" name="Text 15"/>
          <p:cNvSpPr/>
          <p:nvPr/>
        </p:nvSpPr>
        <p:spPr>
          <a:xfrm>
            <a:off x="5852160" y="3429000"/>
            <a:ext cx="265176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4C3C"/>
                </a:solidFill>
              </a:rPr>
              <a:t>19.56%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852160" y="3696005"/>
            <a:ext cx="2651760" cy="3497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C-BESD→FAU 零样本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跨域迁移失败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FD(C-BESD, IEMOCAP) = 7.20  |  FD(C-BESD, FAU) = 8.50  |  Fréchet Distance 量化分布偏移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核心思路：从"通用模型"到"儿童SER规律"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围绕儿童-成人分布偏移，发现三项可验证的工程规律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6"/>
          <p:cNvSpPr/>
          <p:nvPr/>
        </p:nvSpPr>
        <p:spPr>
          <a:xfrm>
            <a:off x="548640" y="14630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规律1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分布偏移定量诊断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Fréchet Distance 在WavLM隐空间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量化儿童-成人偏移 (FD=7.20)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FD↑ ⇒ Accuracy↓ (严格单调负相关)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偏移是可度量、可预测的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80160"/>
            <a:ext cx="2651760" cy="5486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Text 11"/>
          <p:cNvSpPr/>
          <p:nvPr/>
        </p:nvSpPr>
        <p:spPr>
          <a:xfrm>
            <a:off x="3474720" y="14630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规律2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韵律池化的儿童特异性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28600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F0 + RMS作为注意力先验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儿童: +2.24pp / 成人: -2.12pp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韵律先验不是通用增益,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而是儿童语音特有的信号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Text 16"/>
          <p:cNvSpPr/>
          <p:nvPr/>
        </p:nvSpPr>
        <p:spPr>
          <a:xfrm>
            <a:off x="6400800" y="14630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规律3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7373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中层表征承载关键信息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WavLM 12层融合替代单层输出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L8权值最高(0.091), L11-12最低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儿童韵律信息集中在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中层声学编码层, 非深层语义层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框架架构总览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端到端Pipeline: Waveform → WavLM → LayerFusion → Pooling → SEMLP → Output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365760" y="1188720"/>
            <a:ext cx="8412480" cy="310896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总可训练参数: ~704K（不到WavLM骨干94.6M的1%）| 冻结骨干 + 仅训练LayerFusion(12权重) + Pooling(111K) + SEMLP(593K)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WavLM Base Backbone + LayerFusion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冻结SSL编码器 → 12层可学习加权融合 → (B, T, 768)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143000"/>
            <a:ext cx="48463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WavLM Base (wavlm-base-sv)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94.6M参数, 12层Transformer, 94,000小时成人语音预训练 [Chen et al., IEEE JSTSP 2022]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全部参数冻结——梯度不流入骨干网络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输出13个hidden states: 1个Input Embedding + 12层Transformer输出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每层: (T=200帧, D=768) @ 50Hz帧率 (帧移320样本=20ms)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WavLM LayerFusion — 替代传统"仅取最后一层"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50" i="1" dirty="0">
                <a:solidFill>
                  <a:srgbClr val="0D9488"/>
                </a:solidFill>
              </a:rPr>
              <a:t>F = Σ wᵢ · Hᵢ (i=1..12, 丢弃Input Embedding), wᵢ = softmax(θᵢ)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仅12个可训练标量, 初始化为均匀权重 (1/12)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训练后: Layer 8 权值最高=0.091 (中层韵律层), Layer 10-11 权值最低 (~0.06)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74C3C"/>
                </a:solidFill>
              </a:rPr>
              <a:t>结论: 仅取最深层(L11-12)恰好丢失儿童语音最关键的韵律信息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0"/>
            <a:ext cx="3108960" cy="310896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时序池化: 两种策略并行对比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参数量严格对齐 (各111,105) —— 唯一差异: 是否注入F0+RMS韵律先验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我们同时使用两种池化策略, 不是为了"选最优", 而是通过对比来验证韵律先验的作用: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023360" cy="3063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4023360" cy="54864"/>
          </a:xfrm>
          <a:prstGeom prst="rect">
            <a:avLst/>
          </a:prstGeom>
          <a:solidFill>
            <a:srgbClr val="4A90C4"/>
          </a:solidFill>
        </p:spPr>
      </p:sp>
      <p:sp>
        <p:nvSpPr>
          <p:cNvPr id="9" name="Text 7"/>
          <p:cNvSpPr/>
          <p:nvPr/>
        </p:nvSpPr>
        <p:spPr>
          <a:xfrm>
            <a:off x="548640" y="16459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C4"/>
                </a:solidFill>
              </a:rPr>
              <a:t>Self-Attention Pooling（基线/对照）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a_t = MLP(f_t)   [768→116→100→100→1]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α_t = softmax(a_t)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z = Σ α_t · f_t   →  (B, 768)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◆ 纯数据驱动注意力 —— 不注入任何外部先验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◆ 消融实验的公平基线 (等参数量)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◆ 验证假设: 如果Self-Attn已足够强,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  说明WavLM特征本身已编码韵律信息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Exp1: 92.78% WA (C-BESD)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023360" cy="3063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4023360" cy="54864"/>
          </a:xfrm>
          <a:prstGeom prst="rect">
            <a:avLst/>
          </a:prstGeom>
          <a:solidFill>
            <a:srgbClr val="D9793A"/>
          </a:solidFill>
        </p:spPr>
      </p:sp>
      <p:sp>
        <p:nvSpPr>
          <p:cNvPr id="13" name="Text 11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3A"/>
                </a:solidFill>
              </a:rPr>
              <a:t>Prosody Guided Pooling（本文方法）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p_t = MLP_pros([f₀; e_t])   [2→64→64]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c_t = [f_t; p_t]               832-dim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a_t = MLP_fusion(c_t)    [832→128→1]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α_t = softmax(a_t),  z = Σ α_t · f_t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◆ F0 (YIN, C2–C7) + RMS Energy 显式先验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◆ 韵律仅调制注意力权重, 不直接参与分类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◆ 先验角色: "特征" → "帧选择器"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Exp2: 91.30% WA (C-BESD)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分类器演进: DrseNet → SEMLP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从复杂CNN到轻量SE-MLP —— 功能聚焦、参数精简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365760" y="1188720"/>
            <a:ext cx="4023360" cy="2926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54864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8" name="Text 6"/>
          <p:cNvSpPr/>
          <p:nvPr/>
        </p:nvSpPr>
        <p:spPr>
          <a:xfrm>
            <a:off x="548640" y="1325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</a:rPr>
              <a:t>旧版: DrseNet (ResNet+SE+多Stage)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结构: 多阶段残差卷积 + SE注意力 + 多尺度特征融合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定位: 项目早期 (v5_622) 的核心分类网络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问题: 模型复杂, 参数量大, 与冻结SSL骨干的轻量理念不一致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本质: 在162-dim手工特征时代设计的分类器, 迁移到768-dim SSL特征后存在结构冗余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2926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402336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2" name="Text 10"/>
          <p:cNvSpPr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新版: SEMLP (SE-MLP, ~593K)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65760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结构: 768→512→SE-Block→256→128→4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0D9488"/>
                </a:solidFill>
              </a:rPr>
              <a:t>SEBlock(h) = h ⊙ σ(W₂·ReLU(W₁·h)), W₁:512→32, W₂:32→512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功能: 自适应通道门控——增强判别维度, 抑制噪声维度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理念: Pooling输出的已是单一(768,)全局向量, 无需复杂时序建模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效果: ~593K参数, 配合冻结骨干, 总可训参数&lt;704K——不到骨干1%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演进逻辑: </a:t>
            </a:r>
            <a:r>
              <a:rPr lang="en-US" sz="1100" dirty="0">
                <a:solidFill>
                  <a:srgbClr val="475569"/>
                </a:solidFill>
              </a:rPr>
              <a:t>当特征从162-dim手工特征升级为768-dim SSL特征, 且时序建模职责前移到Pooling层后, 分类器的角色从"特征提取+分类"简化为"纯分类"。SEMLP以1/10的参数量完成了DrseNet的工作, 同时SE-Block保留了通道级自适应校准能力。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为什么选择 F0 + RMS Energy？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基于儿童情绪声学研究证据的韵律特征选择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实证依据（儿童特异性研究）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Dmitrieva et al. (2008): F0 和 F1 是7–17岁儿童情绪韵律感知最重要的声学参数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Hubbard (1991): F0均值/范围 + 振幅变化率是最具判别力的婴幼儿情绪特征 (9–13个月)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Kao et al. (2022): F0均值和强度变化是3–12月龄婴儿情绪处理的优先线索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计算可行性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YIN算法: O(n log n), 对非周期性儿童语音鲁棒, C2–C7覆盖儿童F0范围 [de Cheveigné &amp; Kawahara, 2002]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RMS: O(n), 对瞬态噪声鲁棒, SER领域最通用的短时能量度量 [Schröder, 2001]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两者均从波形直接提取——无需ASR、无需强制对齐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情绪空间互补覆盖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F0 → 效价 + 语调轮廓  |  RMS → 唤醒度  |  两者共同覆盖valence-arousal模型双轴 [Juslin &amp; Laukka, 2003]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仅2维特征 (vs. eGeMAPS的88维) 保持韵律分支轻量性, 确保总可训参数 &lt; 704K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数据集概览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三语料库——覆盖年龄、语言和自发性维度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" cy="1005840"/>
          </a:xfrm>
          <a:prstGeom prst="rect">
            <a:avLst/>
          </a:prstGeom>
          <a:solidFill>
            <a:srgbClr val="2E8B57"/>
          </a:solidFill>
        </p:spPr>
      </p:sp>
      <p:sp>
        <p:nvSpPr>
          <p:cNvPr id="8" name="Text 6"/>
          <p:cNvSpPr/>
          <p:nvPr/>
        </p:nvSpPr>
        <p:spPr>
          <a:xfrm>
            <a:off x="640080" y="12618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C-BESD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马来语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32588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儿童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(演绎式)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3716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2,780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169164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条样本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0" y="13258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angry, happy,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neutral, sad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13258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4,179→2,780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(6→4类映射)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8412480" cy="10058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77440"/>
            <a:ext cx="54864" cy="1005840"/>
          </a:xfrm>
          <a:prstGeom prst="rect">
            <a:avLst/>
          </a:prstGeom>
          <a:solidFill>
            <a:srgbClr val="D9793A"/>
          </a:solidFill>
        </p:spPr>
      </p:sp>
      <p:sp>
        <p:nvSpPr>
          <p:cNvPr id="17" name="Text 15"/>
          <p:cNvSpPr/>
          <p:nvPr/>
        </p:nvSpPr>
        <p:spPr>
          <a:xfrm>
            <a:off x="640080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93A"/>
                </a:solidFill>
              </a:rPr>
              <a:t>FAU Aibo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27249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德语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51460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儿童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(自发性)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256032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18,216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17520" y="28803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条样本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251460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angry, happy,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neutral, sad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51460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51名儿童(10-13岁)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Sony Aibo机器人交互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8412480" cy="10058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54864" cy="1005840"/>
          </a:xfrm>
          <a:prstGeom prst="rect">
            <a:avLst/>
          </a:prstGeom>
          <a:solidFill>
            <a:srgbClr val="4A90C4"/>
          </a:solidFill>
        </p:spPr>
      </p:sp>
      <p:sp>
        <p:nvSpPr>
          <p:cNvPr id="26" name="Text 24"/>
          <p:cNvSpPr/>
          <p:nvPr/>
        </p:nvSpPr>
        <p:spPr>
          <a:xfrm>
            <a:off x="640080" y="36393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0C4"/>
                </a:solidFill>
              </a:rPr>
              <a:t>IEMOCAP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391363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英语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370332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成人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(演绎+即兴)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374904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8,525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017520" y="40690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条样本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31920" y="370332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angry, happy,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neutral, sad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70332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10名演员, 5组双人会话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~12小时, 多模态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实验协议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AC Suite 2026-05: 6组实验, 2种池化, 3个数据集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数据划分与预处理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说话人独立MD5哈希划分: 70% train / 15% val / 15% test (说话人零重叠)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统一4类情绪空间: {angry, happy, neutral, sad}; C-BESD 6→4映射 (丢弃DISGUST, FEAR)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音频: 16kHz mono, peak normalization, 4s截断 (200帧 @ 50Hz)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优化器: AdamW (lr=3e-4), CosineAnnealing (Tmax=100), Early Stop (patience=15)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损失函数: Label-Smoothing Cross-Entropy (ε=0.1 default, ε=0.15 FAU)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两套正则化配置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Default (Exp1–4): wd=1e-3, ls=0.1, 无dropout, 无grad_clip —— 用于演绎式语音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FAU (Exp5/5b): wd=5e-3, ls=0.15, pooling_dropout=0.3, grad_clip=1.0 —— 防止小样本自发性数据快速过拟合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6组实验设计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覆盖4维度：池化对比、年龄特异性、风格泛化、跨数据集一致性验证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274320" y="114300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实验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训练集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1430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测试集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114300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Pooling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1430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正则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1430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114300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实验目的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143000"/>
            <a:ext cx="8412480" cy="2743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4" name="Shape 12"/>
          <p:cNvSpPr/>
          <p:nvPr/>
        </p:nvSpPr>
        <p:spPr>
          <a:xfrm>
            <a:off x="274320" y="1463040"/>
            <a:ext cx="8412480" cy="42976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274320" y="1463040"/>
            <a:ext cx="36576" cy="429768"/>
          </a:xfrm>
          <a:prstGeom prst="rect">
            <a:avLst/>
          </a:prstGeom>
          <a:solidFill>
            <a:srgbClr val="2E8B57"/>
          </a:solidFill>
        </p:spPr>
      </p:sp>
      <p:sp>
        <p:nvSpPr>
          <p:cNvPr id="16" name="Text 14"/>
          <p:cNvSpPr/>
          <p:nvPr/>
        </p:nvSpPr>
        <p:spPr>
          <a:xfrm>
            <a:off x="274320" y="1463040"/>
            <a:ext cx="5943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Exp1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1463040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C-BESD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1463040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C-BESD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1463040"/>
            <a:ext cx="9601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Self-Attn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1463040"/>
            <a:ext cx="6858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default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51960" y="1463040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92.78%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1463040"/>
            <a:ext cx="26974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儿童演绎式天花板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938528"/>
            <a:ext cx="8412480" cy="42976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Shape 22"/>
          <p:cNvSpPr/>
          <p:nvPr/>
        </p:nvSpPr>
        <p:spPr>
          <a:xfrm>
            <a:off x="274320" y="1938528"/>
            <a:ext cx="36576" cy="429768"/>
          </a:xfrm>
          <a:prstGeom prst="rect">
            <a:avLst/>
          </a:prstGeom>
          <a:solidFill>
            <a:srgbClr val="6DBF8A"/>
          </a:solidFill>
        </p:spPr>
      </p:sp>
      <p:sp>
        <p:nvSpPr>
          <p:cNvPr id="25" name="Text 23"/>
          <p:cNvSpPr/>
          <p:nvPr/>
        </p:nvSpPr>
        <p:spPr>
          <a:xfrm>
            <a:off x="274320" y="1938528"/>
            <a:ext cx="5943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Exp2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1938528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C-BESD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37360" y="1938528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C-BESD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06040" y="1938528"/>
            <a:ext cx="9601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Prosody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6160" y="1938528"/>
            <a:ext cx="6858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default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51960" y="1938528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91.30%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1938528"/>
            <a:ext cx="26974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核心消融：韵律先验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414016"/>
            <a:ext cx="8412480" cy="42976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Shape 31"/>
          <p:cNvSpPr/>
          <p:nvPr/>
        </p:nvSpPr>
        <p:spPr>
          <a:xfrm>
            <a:off x="274320" y="2414016"/>
            <a:ext cx="36576" cy="429768"/>
          </a:xfrm>
          <a:prstGeom prst="rect">
            <a:avLst/>
          </a:prstGeom>
          <a:solidFill>
            <a:srgbClr val="4A90C4"/>
          </a:solidFill>
        </p:spPr>
      </p:sp>
      <p:sp>
        <p:nvSpPr>
          <p:cNvPr id="34" name="Text 32"/>
          <p:cNvSpPr/>
          <p:nvPr/>
        </p:nvSpPr>
        <p:spPr>
          <a:xfrm>
            <a:off x="274320" y="2414016"/>
            <a:ext cx="5943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Exp3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" y="2414016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IEMOCAP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737360" y="2414016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IEMOCAP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06040" y="2414016"/>
            <a:ext cx="9601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Prosody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66160" y="2414016"/>
            <a:ext cx="6858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default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51960" y="2414016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58.67%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20640" y="2414016"/>
            <a:ext cx="26974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成人对照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2889504"/>
            <a:ext cx="8412480" cy="42976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2" name="Shape 40"/>
          <p:cNvSpPr/>
          <p:nvPr/>
        </p:nvSpPr>
        <p:spPr>
          <a:xfrm>
            <a:off x="274320" y="2889504"/>
            <a:ext cx="36576" cy="429768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43" name="Text 41"/>
          <p:cNvSpPr/>
          <p:nvPr/>
        </p:nvSpPr>
        <p:spPr>
          <a:xfrm>
            <a:off x="274320" y="2889504"/>
            <a:ext cx="5943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Exp4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8680" y="2889504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C-BESD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737360" y="2889504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FAU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606040" y="2889504"/>
            <a:ext cx="9601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Prosody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566160" y="2889504"/>
            <a:ext cx="6858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default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51960" y="2889504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19.56%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20640" y="2889504"/>
            <a:ext cx="26974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零样本跨域迁移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3364992"/>
            <a:ext cx="8412480" cy="42976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1" name="Shape 49"/>
          <p:cNvSpPr/>
          <p:nvPr/>
        </p:nvSpPr>
        <p:spPr>
          <a:xfrm>
            <a:off x="274320" y="3364992"/>
            <a:ext cx="36576" cy="429768"/>
          </a:xfrm>
          <a:prstGeom prst="rect">
            <a:avLst/>
          </a:prstGeom>
          <a:solidFill>
            <a:srgbClr val="D9793A"/>
          </a:solidFill>
        </p:spPr>
      </p:sp>
      <p:sp>
        <p:nvSpPr>
          <p:cNvPr id="52" name="Text 50"/>
          <p:cNvSpPr/>
          <p:nvPr/>
        </p:nvSpPr>
        <p:spPr>
          <a:xfrm>
            <a:off x="274320" y="3364992"/>
            <a:ext cx="5943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Exp5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68680" y="3364992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FAU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737360" y="3364992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FAU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606040" y="3364992"/>
            <a:ext cx="9601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Prosody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66160" y="3364992"/>
            <a:ext cx="6858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fau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51960" y="3364992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66.36%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20640" y="3364992"/>
            <a:ext cx="26974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自发性域内训练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" y="3840480"/>
            <a:ext cx="8412480" cy="42976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0" name="Shape 58"/>
          <p:cNvSpPr/>
          <p:nvPr/>
        </p:nvSpPr>
        <p:spPr>
          <a:xfrm>
            <a:off x="274320" y="3840480"/>
            <a:ext cx="36576" cy="429768"/>
          </a:xfrm>
          <a:prstGeom prst="rect">
            <a:avLst/>
          </a:prstGeom>
          <a:solidFill>
            <a:srgbClr val="D9793A"/>
          </a:solidFill>
        </p:spPr>
      </p:sp>
      <p:sp>
        <p:nvSpPr>
          <p:cNvPr id="61" name="Text 59"/>
          <p:cNvSpPr/>
          <p:nvPr/>
        </p:nvSpPr>
        <p:spPr>
          <a:xfrm>
            <a:off x="274320" y="3840480"/>
            <a:ext cx="5943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Exp5b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68680" y="3840480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FAU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737360" y="3840480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FAU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606040" y="3840480"/>
            <a:ext cx="9601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Self-Attn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566160" y="3840480"/>
            <a:ext cx="6858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fau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251960" y="3840480"/>
            <a:ext cx="8686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66.18%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120640" y="3840480"/>
            <a:ext cx="26974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FAU场景消融验证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主实验结果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6组实验 WA + UAR 柱状图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1468755" y="996950"/>
            <a:ext cx="6563995" cy="337566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859536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关键发现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① Self-Attn略优于Prosody (92.78% vs 91.30%, Δ=-1.48pp) —— WavLM特征已足够强, 纯注意力即可捕获判别帧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② 儿童→成人骤降: 91.30%→58.67% (-32.63pp) —— 验证了分布偏移的灾难性影响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③ 零样本跨域失败: C-BESD→FAU仅19.56% (&lt;随机25%) —— 演绎→自发分布鸿沟不可直接跨越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④ 域内训练可部分恢复: +46.80pp (19.56%→66.36%) —— 但仍有~26pp天花板差距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消融实验: 池化策略对比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C-BESD与FAU Aibo两个数据集上的一致结论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182880" y="1051560"/>
            <a:ext cx="4297680" cy="3254375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51560"/>
            <a:ext cx="4297680" cy="36576"/>
          </a:xfrm>
          <a:prstGeom prst="rect">
            <a:avLst/>
          </a:prstGeom>
          <a:solidFill>
            <a:srgbClr val="2E8B57"/>
          </a:solidFill>
        </p:spPr>
      </p:sp>
      <p:sp>
        <p:nvSpPr>
          <p:cNvPr id="8" name="Text 6"/>
          <p:cNvSpPr/>
          <p:nvPr/>
        </p:nvSpPr>
        <p:spPr>
          <a:xfrm>
            <a:off x="320040" y="111556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</a:rPr>
              <a:t>C-BESD (儿童演绎·马来语)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45590"/>
            <a:ext cx="4007485" cy="217297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" y="1371600"/>
            <a:ext cx="19202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297680" cy="325501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4297680" cy="36576"/>
          </a:xfrm>
          <a:prstGeom prst="rect">
            <a:avLst/>
          </a:prstGeom>
          <a:solidFill>
            <a:srgbClr val="D9793A"/>
          </a:solidFill>
        </p:spPr>
      </p:sp>
      <p:sp>
        <p:nvSpPr>
          <p:cNvPr id="15" name="Text 13"/>
          <p:cNvSpPr/>
          <p:nvPr/>
        </p:nvSpPr>
        <p:spPr>
          <a:xfrm>
            <a:off x="4800600" y="111556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93A"/>
                </a:solidFill>
              </a:rPr>
              <a:t>FAU Aibo (儿童自发性·德语)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549400"/>
            <a:ext cx="4023360" cy="217233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2700">
            <a:solidFill>
              <a:srgbClr val="CBD5E1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74320" y="4397375"/>
            <a:ext cx="8412480" cy="4400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一致结论: 两种池化策略性能相当——Self-Attn已足够强, 韵律先验提供了额外的可解释性维度(APC_wav=0.718)而非性能增益。跨数据集混淆矩阵确认了儿童→成人、演绎→自发的性能梯度。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分布偏移诊断: FD vs Accuracy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Fréchet Distance定量预测分类性能退化——严格单调负相关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346075" y="1045845"/>
            <a:ext cx="4958080" cy="397764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5029200" cy="3566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07050" y="1217295"/>
            <a:ext cx="32918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FD-Accuracy 对应关系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</a:rPr>
              <a:t>FD=0.00 → 92.78% (C-BESD域内)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同语料基线——无分布偏移，性能最佳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A90C4"/>
                </a:solidFill>
              </a:rPr>
              <a:t>FD=7.20 → 58.67% (IEMOCAP成人)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年龄偏移——儿童→成人性能骤降 -32.63pp</a:t>
            </a:r>
            <a:endParaRPr lang="en-US" sz="1000" dirty="0">
              <a:solidFill>
                <a:srgbClr val="94A3B8"/>
              </a:solidFill>
            </a:endParaRP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93A"/>
                </a:solidFill>
              </a:rPr>
              <a:t>FD=8.50 → 66.36% (FAU域内)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风格+自发性偏移——域内训练可部分克服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FD=8.50 → 19.56% (FAU零样本)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相同FD, WA差异 = +46.80pp → 域内训练是最有效的偏移补偿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核心规律: FD ↑ ⇒ Accuracy ↓</a:t>
            </a:r>
            <a:r>
              <a:rPr lang="en-US" sz="1000" i="1" dirty="0">
                <a:solidFill>
                  <a:srgbClr val="94A3B8"/>
                </a:solidFill>
              </a:rPr>
              <a:t>FD在AutoDL GPU上重算 (2026-05-27, max_samples=500, seed=42)</a:t>
            </a:r>
            <a:endParaRPr lang="en-US" sz="1000" i="1" dirty="0">
              <a:solidFill>
                <a:srgbClr val="94A3B8"/>
              </a:solidFill>
            </a:endParaRP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zh-CN" altLang="en-US" sz="1300" dirty="0"/>
              <a:t>用了相同的 70/15/15 说话人独立划分协议（5 </a:t>
            </a:r>
            <a:r>
              <a:rPr lang="en-US" altLang="zh-CN" sz="1300" dirty="0"/>
              <a:t>train / 2 val / 3 test speakers）</a:t>
            </a:r>
            <a:endParaRPr lang="en-US" altLang="zh-CN" sz="13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儿童特异性验证: Prosody Δ 跨数据集梯度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韵律池化增益随数据集"儿童相关性"单调递减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C-BESD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(儿童演绎)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A1 (mean pool): 78.61%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A3 (prosody): 80.85%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B57"/>
                </a:solidFill>
              </a:rPr>
              <a:t>Δ = +2.24pp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E8B57"/>
                </a:solidFill>
              </a:rPr>
              <a:t>↑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13716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CREMA-D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(成人演绎)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A1 (mean pool): 64.69%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2402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A3 (prosody): 65.44%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Δ = +0.75pp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3154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13716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IEMOCAP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(成人演绎)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A1 (mean pool): 54.5%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2402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A3 (prosody): 52.38%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6060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</a:rPr>
              <a:t>Δ = -2.12pp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3154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74C3C"/>
                </a:solidFill>
              </a:rPr>
              <a:t>↓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</a:rPr>
              <a:t>规律: 韵律先验增益随"儿童相关性"单调递减 — +2.24 → +0.75 → -2.12 pp。韵律引导的时序池化具有明确的儿童特异性，而非通用SER增益模块。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XAI可解释性: 注意力-韵律显著图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Prosody Guided Pooling 如何聚焦情绪显著帧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1808480" y="1119505"/>
            <a:ext cx="4967605" cy="287274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CBD5E1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APC_wav = 0.718  |  APC_delta = -0.144 (canonical data, 2026-05-27)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APC_wav (Attention-RMS correlation): 强正相关——注意力峰值与能量爆发区域对齐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APC_delta &lt; 0: 注意力抑制了原始音高追踪——模型学到了超越简单韵律相关的情绪判别模式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红色saliency区域集中在高能量、情绪表达强烈的语音段——静音帧被正确忽略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74C3C"/>
                </a:solidFill>
              </a:rPr>
              <a:t>⚠ 使用 canonical 版本 (APC=0.718), 非6月2日旧版 (APC=0.515已废弃)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总结: 从"通用模型"到"儿童SER规律"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我们最初的目标是设计一个通用的儿童语音情绪识别模型，但实验过程让我们发现了更本质的东西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研究的认知转变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起点——工程目标: 设计一个在儿童语音上"好用"的SER模型，替换掉成人SER的直接迁移方案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过程——发现规律: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9488"/>
                </a:solidFill>
              </a:rPr>
              <a:t>规律① 分布偏移是可定量预测的: FD与Accuracy严格单调负相关, 偏移越大→性能越低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9488"/>
                </a:solidFill>
              </a:rPr>
              <a:t>规律② 儿童语音的关键信息在中层而非深层: WavLM L8权值最高, L11-12权值最低——传统"取最后一层"恰好丢失了最关键的信息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9488"/>
                </a:solidFill>
              </a:rPr>
              <a:t>规律③ F0+RMS韵律先验具有儿童特异性, 不是通用增益: +2.24pp(儿童)→ +0.75pp(成人CREMA-D)→ -2.12pp(成人IEMOCAP)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9488"/>
                </a:solidFill>
              </a:rPr>
              <a:t>规律④ 成人SER的增强经验不可迁移: 所有增强操作均引入分布偏移并降低性能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终点——认知贡献: 这项工作的价值不在于"提出了一个新模型"，而在于通过系统性实验揭示了儿童SER中几条可验证、可复现的工程规律。模型的92.78%只是这些规律的自然结果。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后续计划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待办事项与研究方向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3383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近期任务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完成全部图表 (fig00–fig08 + figA1–A4) 的最终生成——使用 AC Suite canonical 数据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完成论文初稿——22篇真实参考文献已收集并验证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在全量C-BESD测试集上重算APC (当前仅1条样本)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研究拓展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Domain Adaptation: 弥合演绎式→自发性差距 (66% vs 93%天花板)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多语言儿童SER规律验证: 利用BESD English + Telugu子集检验发现的规律是否跨语言成立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探索更多韵律特征的儿童特异性: jitter, shimmer, HNR在guided pooling框架下的Δ梯度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投稿目标: Interspeech / ICASSP / IEEE TAC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许梓超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分布驱动的儿童语音情绪识别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AC Suite 2026-05  ·  WavLM Base (wavlm-base-sv)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6907</Words>
  <Application>WPS 演示</Application>
  <PresentationFormat>On-screen Show (16:9)</PresentationFormat>
  <Paragraphs>539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分布驱动的儿童语音情绪识别</dc:title>
  <dc:creator>许梓超</dc:creator>
  <dc:subject>PptxGenJS Presentation</dc:subject>
  <cp:lastModifiedBy>ZiChao Xu</cp:lastModifiedBy>
  <cp:revision>3</cp:revision>
  <dcterms:created xsi:type="dcterms:W3CDTF">2026-06-04T16:56:00Z</dcterms:created>
  <dcterms:modified xsi:type="dcterms:W3CDTF">2026-06-04T17:53:47Z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2052-12.1.0.26372</vt:lpwstr>
  </property>
  <property fmtid="{D5CDD505-2E9C-101B-9397-08002B2CF9AE}" pid="3" name="ICV">
    <vt:lpwstr>A98BC7DE81BF49C184AAE4DFBB943C22_12</vt:lpwstr>
  </property>
</Properties>
</file>